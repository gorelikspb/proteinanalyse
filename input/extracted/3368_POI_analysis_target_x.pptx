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75" r:id="rId4"/>
    <p:sldId id="276" r:id="rId5"/>
    <p:sldId id="277" r:id="rId6"/>
    <p:sldId id="278" r:id="rId7"/>
    <p:sldId id="279" r:id="rId8"/>
    <p:sldId id="282" r:id="rId9"/>
    <p:sldId id="280" r:id="rId10"/>
    <p:sldId id="281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4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58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roject@trenzyme.com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5CDA77F-41C5-4F88-9A4D-C85949538507}"/>
              </a:ext>
            </a:extLst>
          </p:cNvPr>
          <p:cNvPicPr/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6" b="22083"/>
          <a:stretch/>
        </p:blipFill>
        <p:spPr bwMode="auto">
          <a:xfrm>
            <a:off x="4690608" y="265485"/>
            <a:ext cx="1835785" cy="513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6CDEC3D-E357-40A3-92C4-FDCC5A4E42D4}"/>
              </a:ext>
            </a:extLst>
          </p:cNvPr>
          <p:cNvCxnSpPr/>
          <p:nvPr userDrawn="1"/>
        </p:nvCxnSpPr>
        <p:spPr>
          <a:xfrm>
            <a:off x="356949" y="996851"/>
            <a:ext cx="6120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FCA4AC46-550A-4286-9187-5F7A578FE3BB}"/>
              </a:ext>
            </a:extLst>
          </p:cNvPr>
          <p:cNvCxnSpPr/>
          <p:nvPr userDrawn="1"/>
        </p:nvCxnSpPr>
        <p:spPr>
          <a:xfrm>
            <a:off x="338949" y="9483090"/>
            <a:ext cx="6156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D8ECE91-88EE-45FE-8859-6170364781B2}"/>
              </a:ext>
            </a:extLst>
          </p:cNvPr>
          <p:cNvSpPr txBox="1"/>
          <p:nvPr userDrawn="1"/>
        </p:nvSpPr>
        <p:spPr>
          <a:xfrm>
            <a:off x="287216" y="9481120"/>
            <a:ext cx="157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trenzyme GmbH</a:t>
            </a:r>
            <a:b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  <a:hlinkClick r:id="rId4"/>
              </a:rPr>
              <a:t>project@trenzyme.com</a:t>
            </a:r>
            <a:endParaRPr lang="de-DE" sz="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+49 (0)7531 122900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14AD230-3D56-4292-A964-2757A850A594}"/>
              </a:ext>
            </a:extLst>
          </p:cNvPr>
          <p:cNvSpPr txBox="1"/>
          <p:nvPr userDrawn="1"/>
        </p:nvSpPr>
        <p:spPr>
          <a:xfrm>
            <a:off x="3508188" y="9481120"/>
            <a:ext cx="3076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#3368 ∙ </a:t>
            </a:r>
            <a:r>
              <a:rPr lang="de-DE" sz="8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Documentation</a:t>
            </a:r>
            <a:r>
              <a:rPr lang="de-DE" sz="800" baseline="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800" baseline="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of</a:t>
            </a:r>
            <a:r>
              <a:rPr lang="de-DE" sz="800" baseline="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POI </a:t>
            </a:r>
            <a:r>
              <a:rPr lang="de-DE" sz="800" baseline="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analysis</a:t>
            </a:r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endParaRPr lang="de-DE" sz="800" baseline="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 algn="r"/>
            <a:r>
              <a:rPr lang="de-DE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Version x∙20YY-MM-DD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28B5698-055D-4163-8CDE-6DA97CFFFEC7}"/>
              </a:ext>
            </a:extLst>
          </p:cNvPr>
          <p:cNvSpPr txBox="1"/>
          <p:nvPr userDrawn="1"/>
        </p:nvSpPr>
        <p:spPr>
          <a:xfrm>
            <a:off x="287215" y="306303"/>
            <a:ext cx="28919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#3368 </a:t>
            </a:r>
          </a:p>
          <a:p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Profound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Therapeutics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Inc. ∙ Dr. William </a:t>
            </a:r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Comb</a:t>
            </a:r>
            <a:endParaRPr lang="de-DE" sz="9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Documentation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of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POI </a:t>
            </a:r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analysis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, </a:t>
            </a:r>
            <a:r>
              <a:rPr lang="de-DE" sz="9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</a:t>
            </a:r>
            <a:r>
              <a:rPr lang="de-DE" sz="9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x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6836320-67AE-476D-AA9C-B92D2E1B0874}"/>
              </a:ext>
            </a:extLst>
          </p:cNvPr>
          <p:cNvSpPr/>
          <p:nvPr userDrawn="1"/>
        </p:nvSpPr>
        <p:spPr>
          <a:xfrm>
            <a:off x="3178771" y="9583874"/>
            <a:ext cx="5004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80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- </a:t>
            </a:r>
            <a:fld id="{E2A99603-D643-4D95-862E-C50A928CB1CE}" type="slidenum">
              <a:rPr lang="de-DE" sz="800" smtClean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‹Nr.›</a:t>
            </a:fld>
            <a:r>
              <a:rPr sz="80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- </a:t>
            </a:r>
            <a:endParaRPr sz="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88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FDE17019-FCFE-47D6-9D55-8B4DCB673D82}"/>
              </a:ext>
            </a:extLst>
          </p:cNvPr>
          <p:cNvSpPr txBox="1">
            <a:spLocks/>
          </p:cNvSpPr>
          <p:nvPr/>
        </p:nvSpPr>
        <p:spPr>
          <a:xfrm>
            <a:off x="302080" y="1265207"/>
            <a:ext cx="4384973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List </a:t>
            </a:r>
            <a:r>
              <a:rPr lang="de-DE" sz="14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of</a:t>
            </a:r>
            <a:r>
              <a:rPr lang="de-DE" sz="14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POI </a:t>
            </a:r>
            <a:r>
              <a:rPr lang="de-DE" sz="14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characteristics</a:t>
            </a:r>
            <a:r>
              <a:rPr lang="de-DE" sz="14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and </a:t>
            </a:r>
            <a:r>
              <a:rPr lang="de-DE" sz="14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predictions</a:t>
            </a:r>
            <a:endParaRPr lang="en-US" sz="1400" b="1" u="sng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31FEC978-63CD-4988-AFA7-583D73765311}"/>
              </a:ext>
            </a:extLst>
          </p:cNvPr>
          <p:cNvSpPr txBox="1">
            <a:spLocks/>
          </p:cNvSpPr>
          <p:nvPr/>
        </p:nvSpPr>
        <p:spPr>
          <a:xfrm>
            <a:off x="302080" y="1652410"/>
            <a:ext cx="6223264" cy="759827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 name/Identifier:	</a:t>
            </a:r>
            <a:r>
              <a:rPr lang="en-US" sz="11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endParaRPr lang="en-US" sz="1100" b="1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No of AA:	xxx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MW:	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xx.y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kDa</a:t>
            </a:r>
            <a:endParaRPr lang="en-US" sz="11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Theor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.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pI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:	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x.y</a:t>
            </a:r>
            <a:endParaRPr lang="en-US" sz="11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Theor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. Ext.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coeff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:	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x.yy</a:t>
            </a:r>
            <a:endParaRPr lang="en-US" sz="11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Uniprot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BLAST:	No significant hit /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2)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Signal peptide:	no / yes (AA x –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yy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) 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3)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Transmembrane segments:	no / yes (AA x –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yy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) 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4)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Predicted ECD:	no / yes (AA x – </a:t>
            </a:r>
            <a:r>
              <a:rPr lang="en-US" sz="11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yy</a:t>
            </a: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) 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4)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Unique protease sites:	None / - Pos. XXX (Protease)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5)	- Pos. XXX (Protease)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	- Pos. XXX (Protease)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	- Pos. XXX (Protease)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Furin sites:	None / Pos. XXX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6)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Glycosylation sites:	None / Pos. XXX, YYY, ZZZ (O-glycosylation)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7 + 8)	None / Pos. XXX, YYY, ZZZ (N-glycosylation)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Antigenicity:	x antigenic determinants</a:t>
            </a:r>
            <a:b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1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(see page 9)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endParaRPr lang="en-US" sz="11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11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POI sequence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de-DE" sz="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1</a:t>
            </a:r>
            <a:r>
              <a:rPr lang="de-DE" sz="800" u="sng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de-DE" sz="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2</a:t>
            </a:r>
            <a:r>
              <a:rPr lang="de-DE" sz="800" u="sng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de-DE" sz="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XXXXXXXXXX YYYYYYYYYY</a:t>
            </a:r>
            <a:endParaRPr lang="de-DE" sz="800" b="1" kern="0" dirty="0">
              <a:solidFill>
                <a:srgbClr val="FF000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endParaRPr lang="en-US" sz="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800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Underlined letters</a:t>
            </a:r>
            <a:r>
              <a:rPr lang="en-US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:	“Empirical ECD” as communicated by client (AA X – Y)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r>
              <a:rPr lang="en-US" sz="800" b="1" dirty="0">
                <a:solidFill>
                  <a:srgbClr val="FF0000"/>
                </a:solidFill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Red letters</a:t>
            </a:r>
            <a:r>
              <a:rPr lang="en-US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:	ECD predicted by </a:t>
            </a:r>
            <a:r>
              <a:rPr lang="en-US" sz="800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trenzyme</a:t>
            </a:r>
            <a:r>
              <a:rPr lang="en-US" sz="8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(AA X – Y)</a:t>
            </a:r>
          </a:p>
          <a:p>
            <a:pPr>
              <a:spcAft>
                <a:spcPts val="600"/>
              </a:spcAft>
              <a:tabLst>
                <a:tab pos="1795463" algn="l"/>
                <a:tab pos="4124325" algn="l"/>
                <a:tab pos="4305300" algn="l"/>
                <a:tab pos="5972175" algn="r"/>
              </a:tabLst>
            </a:pPr>
            <a:endParaRPr lang="de-DE" sz="1100" b="1" u="sng" kern="0" dirty="0">
              <a:effectLst/>
              <a:latin typeface="Courier New" panose="02070309020205020404" pitchFamily="49" charset="0"/>
              <a:ea typeface="UnitOT-Light" panose="020B0504030101020102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5510222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Uniprot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blast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https://www.uniprot.org/blast/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34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5799782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Signal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Sequence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Analysis </a:t>
            </a: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https://services.healthtech.dtu.dk/services/SignalP-6.0/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41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157922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TMHMM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result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and/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or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Phobius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https://services.healthtech.dtu.dk/services/TMHMM-2.0/</a:t>
            </a:r>
            <a:br>
              <a:rPr lang="en-US" sz="140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en-US" sz="140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https://phobius.sbc.su.se/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6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5875982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Potential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Cleavage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Sites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https://web.expasy.org/peptide_cutter/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14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150302" cy="4025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Potential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Furin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or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Propeptide </a:t>
            </a:r>
            <a:r>
              <a:rPr lang="de-DE" sz="14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Cleavage</a:t>
            </a:r>
            <a: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Sites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https://services.healthtech.dtu.dk/services/ProP-1.0/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1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081722" cy="402596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en-US" sz="1400" b="1" dirty="0"/>
              <a:t>O-GalNAc (Mucin Type) Glycosylation Sites </a:t>
            </a:r>
            <a:r>
              <a:rPr lang="de-DE" sz="1400" b="1" dirty="0"/>
              <a:t>in </a:t>
            </a:r>
            <a:r>
              <a:rPr lang="de-DE" sz="1400" b="1" dirty="0" err="1"/>
              <a:t>mammalian</a:t>
            </a:r>
            <a:r>
              <a:rPr lang="de-DE" sz="1400" b="1" dirty="0"/>
              <a:t> </a:t>
            </a:r>
            <a:r>
              <a:rPr lang="de-DE" sz="1400" b="1" dirty="0" err="1"/>
              <a:t>proteins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https://services.healthtech.dtu.dk/services/NetOGlyc-4.0/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0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081722" cy="402596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en-US" sz="1400" b="1" dirty="0"/>
              <a:t>N-linked glycosylation sites in human proteins</a:t>
            </a:r>
            <a:br>
              <a:rPr lang="en-US" sz="1400" b="1" dirty="0"/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https://services.healthtech.dtu.dk/services/NetNGlyc-1.0/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005522" cy="402596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 err="1"/>
              <a:t>Antigenic</a:t>
            </a:r>
            <a:r>
              <a:rPr lang="de-DE" sz="1400" b="1" dirty="0"/>
              <a:t> Plot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http://imed.med.ucm.es/Tools/antigenic.pl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931E6-32A6-48B6-09C4-436DB10C0BFD}"/>
              </a:ext>
            </a:extLst>
          </p:cNvPr>
          <p:cNvSpPr txBox="1">
            <a:spLocks/>
          </p:cNvSpPr>
          <p:nvPr/>
        </p:nvSpPr>
        <p:spPr>
          <a:xfrm>
            <a:off x="280978" y="1485015"/>
            <a:ext cx="6180782" cy="402596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400" b="1" dirty="0"/>
              <a:t>MPI Toolkit – Quick2D</a:t>
            </a:r>
            <a:br>
              <a:rPr lang="de-DE" sz="14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</a:br>
            <a:r>
              <a:rPr lang="de-DE" sz="1400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https://toolkit.tuebingen.mpg.de/tools/quick2d</a:t>
            </a:r>
            <a:endParaRPr lang="en-US" sz="14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9EE4E9-324C-950E-91D6-E7BAE2A3C84C}"/>
              </a:ext>
            </a:extLst>
          </p:cNvPr>
          <p:cNvSpPr txBox="1"/>
          <p:nvPr/>
        </p:nvSpPr>
        <p:spPr>
          <a:xfrm>
            <a:off x="280978" y="1047428"/>
            <a:ext cx="657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ts val="600"/>
              </a:spcAft>
              <a:tabLst>
                <a:tab pos="5972175" algn="r"/>
              </a:tabLst>
            </a:pPr>
            <a:r>
              <a:rPr lang="de-DE" sz="1800" b="1" u="sng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Targetname</a:t>
            </a:r>
            <a:r>
              <a:rPr lang="de-DE" sz="1800" b="1" u="sng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/Identifier:</a:t>
            </a:r>
            <a:r>
              <a:rPr lang="de-DE" sz="1800" b="1" dirty="0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 </a:t>
            </a:r>
            <a:r>
              <a:rPr lang="de-DE" sz="1800" b="1" dirty="0" err="1">
                <a:latin typeface="UnitOT-Light" panose="020B0504030101020102" pitchFamily="34" charset="0"/>
                <a:ea typeface="UnitOT-Light" panose="020B0504030101020102" pitchFamily="34" charset="0"/>
                <a:cs typeface="UnitOT-Light" panose="020B0504030101020102" pitchFamily="34" charset="0"/>
              </a:rPr>
              <a:t>xxxxxx</a:t>
            </a:r>
            <a:endParaRPr lang="en-US" sz="1800" dirty="0">
              <a:latin typeface="UnitOT-Light" panose="020B0504030101020102" pitchFamily="34" charset="0"/>
              <a:ea typeface="UnitOT-Light" panose="020B0504030101020102" pitchFamily="34" charset="0"/>
              <a:cs typeface="UnitOT-Light" panose="020B050403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0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492</Words>
  <Application>Microsoft Office PowerPoint</Application>
  <PresentationFormat>A4-Papier (210 x 297 mm)</PresentationFormat>
  <Paragraphs>38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UnitOT-Light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</dc:title>
  <dc:creator>trenzyme</dc:creator>
  <cp:lastModifiedBy>Alexander Brosig</cp:lastModifiedBy>
  <cp:revision>30</cp:revision>
  <dcterms:created xsi:type="dcterms:W3CDTF">2022-02-10T17:19:54Z</dcterms:created>
  <dcterms:modified xsi:type="dcterms:W3CDTF">2024-05-02T14:11:15Z</dcterms:modified>
</cp:coreProperties>
</file>